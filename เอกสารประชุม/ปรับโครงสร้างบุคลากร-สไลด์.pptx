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07351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017520"/>
            <a:ext cx="2926080" cy="2926080"/>
          </a:xfrm>
          <a:prstGeom prst="ellipse">
            <a:avLst/>
          </a:prstGeom>
          <a:solidFill>
            <a:srgbClr val="0B5B3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914400" cy="914400"/>
          </a:xfrm>
          <a:prstGeom prst="ellipse">
            <a:avLst/>
          </a:prstGeom>
          <a:solidFill>
            <a:srgbClr val="0B5B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768096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713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28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เอกสารประกอบการประชุม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64592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8C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ผู้บริหารฝ่ายบุคคล · 7-Eleven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การปรับโครงสร้าง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การบริหารบุคลากร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66928" y="3611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7D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ระบบบริหารงานบุคคลใหม่ — โปร่งใส · ตรวจสอบได้ · เป็นธรรม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85216" y="4297680"/>
            <a:ext cx="146304" cy="146304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4297680"/>
            <a:ext cx="146304" cy="146304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12" name="Shape 9"/>
          <p:cNvSpPr/>
          <p:nvPr/>
        </p:nvSpPr>
        <p:spPr>
          <a:xfrm>
            <a:off x="1060704" y="4297680"/>
            <a:ext cx="146304" cy="146304"/>
          </a:xfrm>
          <a:prstGeom prst="ellipse">
            <a:avLst/>
          </a:prstGeom>
          <a:solidFill>
            <a:srgbClr val="E11F26"/>
          </a:solidFill>
          <a:ln/>
        </p:spPr>
      </p:sp>
      <p:sp>
        <p:nvSpPr>
          <p:cNvPr id="13" name="Text 10"/>
          <p:cNvSpPr/>
          <p:nvPr/>
        </p:nvSpPr>
        <p:spPr>
          <a:xfrm>
            <a:off x="1371600" y="4224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BB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วาระ: โครงสร้าง · ฟีเจอร์ระบบ · นโยบายวินัย/คะแนน · แผนเปลี่ยนผ่าน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วาระการประชุม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1208" y="1078992"/>
            <a:ext cx="146304" cy="146304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078992"/>
            <a:ext cx="146304" cy="146304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1078992"/>
            <a:ext cx="146304" cy="146304"/>
          </a:xfrm>
          <a:prstGeom prst="ellipse">
            <a:avLst/>
          </a:prstGeom>
          <a:solidFill>
            <a:srgbClr val="E11F2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71600"/>
            <a:ext cx="4069080" cy="749808"/>
          </a:xfrm>
          <a:prstGeom prst="roundRect">
            <a:avLst>
              <a:gd name="adj" fmla="val 10976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1545336"/>
            <a:ext cx="402336" cy="402336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545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16152" y="14904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ทำไมต้องปรับระบบ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16152" y="17739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ปัญหาเดิม &amp; เป้าหมาย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0" y="1371600"/>
            <a:ext cx="4069080" cy="749808"/>
          </a:xfrm>
          <a:prstGeom prst="roundRect">
            <a:avLst>
              <a:gd name="adj" fmla="val 10976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93792" y="1545336"/>
            <a:ext cx="402336" cy="402336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13" name="Text 11"/>
          <p:cNvSpPr/>
          <p:nvPr/>
        </p:nvSpPr>
        <p:spPr>
          <a:xfrm>
            <a:off x="5193792" y="1545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742432" y="14904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ภาพรวมระบบใหม่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742432" y="17739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แอปเดียวครบวงจร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286000"/>
            <a:ext cx="4069080" cy="749808"/>
          </a:xfrm>
          <a:prstGeom prst="roundRect">
            <a:avLst>
              <a:gd name="adj" fmla="val 10976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" y="2459736"/>
            <a:ext cx="402336" cy="402336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16152" y="24048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 &amp; บทบาท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16152" y="26883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 · หัวหน้า · HR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0" y="2286000"/>
            <a:ext cx="4069080" cy="749808"/>
          </a:xfrm>
          <a:prstGeom prst="roundRect">
            <a:avLst>
              <a:gd name="adj" fmla="val 10976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93792" y="2459736"/>
            <a:ext cx="402336" cy="402336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23" name="Text 21"/>
          <p:cNvSpPr/>
          <p:nvPr/>
        </p:nvSpPr>
        <p:spPr>
          <a:xfrm>
            <a:off x="5193792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742432" y="24048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ขั้นตอนการทำงานใหม่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742432" y="26883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เช็กอิน → ลา → วินัย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3200400"/>
            <a:ext cx="4069080" cy="749808"/>
          </a:xfrm>
          <a:prstGeom prst="roundRect">
            <a:avLst>
              <a:gd name="adj" fmla="val 10976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" y="3374136"/>
            <a:ext cx="402336" cy="402336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216152" y="33192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ฟีเจอร์ระบบ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216152" y="36027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สิ่งที่ระบบทำได้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0" y="3200400"/>
            <a:ext cx="4069080" cy="749808"/>
          </a:xfrm>
          <a:prstGeom prst="roundRect">
            <a:avLst>
              <a:gd name="adj" fmla="val 10976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193792" y="3374136"/>
            <a:ext cx="402336" cy="402336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33" name="Text 31"/>
          <p:cNvSpPr/>
          <p:nvPr/>
        </p:nvSpPr>
        <p:spPr>
          <a:xfrm>
            <a:off x="5193792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742432" y="33192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นโยบายวินัย &amp; คะแนน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742432" y="36027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ใบเตือน · คะแนน · โบนัส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4114800"/>
            <a:ext cx="4069080" cy="749808"/>
          </a:xfrm>
          <a:prstGeom prst="roundRect">
            <a:avLst>
              <a:gd name="adj" fmla="val 10976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7512" y="4288536"/>
            <a:ext cx="402336" cy="402336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" y="4288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216152" y="42336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แผนเปลี่ยนผ่าน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1216152" y="45171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Timeline 5 ระยะ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0" y="4114800"/>
            <a:ext cx="4069080" cy="749808"/>
          </a:xfrm>
          <a:prstGeom prst="roundRect">
            <a:avLst>
              <a:gd name="adj" fmla="val 10976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193792" y="4288536"/>
            <a:ext cx="402336" cy="402336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43" name="Text 41"/>
          <p:cNvSpPr/>
          <p:nvPr/>
        </p:nvSpPr>
        <p:spPr>
          <a:xfrm>
            <a:off x="5193792" y="4288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5742432" y="42336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การสื่อสาร &amp; ตัดสินใจ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5742432" y="45171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สารถึงพนักงาน + Next steps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ทำไมต้องปรับระบบ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1208" y="1078992"/>
            <a:ext cx="146304" cy="146304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078992"/>
            <a:ext cx="146304" cy="146304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1078992"/>
            <a:ext cx="146304" cy="146304"/>
          </a:xfrm>
          <a:prstGeom prst="ellipse">
            <a:avLst/>
          </a:prstGeom>
          <a:solidFill>
            <a:srgbClr val="E11F2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71600"/>
            <a:ext cx="4069080" cy="3200400"/>
          </a:xfrm>
          <a:prstGeom prst="roundRect">
            <a:avLst>
              <a:gd name="adj" fmla="val 2571"/>
            </a:avLst>
          </a:prstGeom>
          <a:solidFill>
            <a:srgbClr val="FBE3E4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2763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956" y="1752356"/>
            <a:ext cx="317480" cy="317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007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F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ปัญหาเดิม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331720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7A2E2E"/>
                </a:solidFill>
              </a:rPr>
              <a:t>เช็กชื่อด้วยกระดาษ/ไลน์ — ตรวจสอบยาก ปลอมได้ ไม่มีหลักฐานเวลา-สถานที่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7A2E2E"/>
                </a:solidFill>
              </a:rPr>
              <a:t>จัดเวรซ้ำซ้อน สับสน · ไปทำแทนสาขาไม่มีบันทึก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7A2E2E"/>
                </a:solidFill>
              </a:rPr>
              <a:t>การลาไม่เป็นระบบ ไม่มีเงื่อนไข ไม่มีประวัติ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7A2E2E"/>
                </a:solidFill>
              </a:rPr>
              <a:t>วินัยไม่มีมาตรฐานกลาง ตัดสินด้วยความรู้สึก → ไม่เป็นธรรม เกิดข้อพิพาท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983480" y="1371600"/>
            <a:ext cx="4069080" cy="3200400"/>
          </a:xfrm>
          <a:prstGeom prst="roundRect">
            <a:avLst>
              <a:gd name="adj" fmla="val 2571"/>
            </a:avLst>
          </a:prstGeom>
          <a:solidFill>
            <a:srgbClr val="E7F3EC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93792" y="162763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516" y="1752356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52160" y="17007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เป้าหมายระบบใหม่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212080" y="2331720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4A33"/>
                </a:solidFill>
              </a:rPr>
              <a:t>โปร่งใส ตรวจสอบได้ — มีหลักฐานทุกการกระทำ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4A33"/>
                </a:solidFill>
              </a:rPr>
              <a:t>ยุติธรรม มาตรฐานเดียวกันทั้งองค์กร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4A33"/>
                </a:solidFill>
              </a:rPr>
              <a:t>ลดข้อพิพาทแรงงาน · ทำตามขั้นตอนกฎหมาย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4A33"/>
                </a:solidFill>
              </a:rPr>
              <a:t>เพิ่มความรับผิดชอบ — ให้รางวัลคนตั้งใจ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ภาพรวมระบบใหม่ — แอปเดียวครบวงจร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1208" y="1078992"/>
            <a:ext cx="146304" cy="146304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078992"/>
            <a:ext cx="146304" cy="146304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1078992"/>
            <a:ext cx="146304" cy="146304"/>
          </a:xfrm>
          <a:prstGeom prst="ellipse">
            <a:avLst/>
          </a:prstGeom>
          <a:solidFill>
            <a:srgbClr val="E11F2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71600"/>
            <a:ext cx="40690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09344"/>
            <a:ext cx="603504" cy="603504"/>
          </a:xfrm>
          <a:prstGeom prst="ellipse">
            <a:avLst/>
          </a:prstGeom>
          <a:solidFill>
            <a:srgbClr val="E7F3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003" y="1742115"/>
            <a:ext cx="337962" cy="3379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6824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หน้าพนักงาน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3611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20"/>
                </a:solidFill>
              </a:rPr>
              <a:t>เช็กอิน–ออกงาน ด้วย GPS + ถ่ายรูป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20"/>
                </a:solidFill>
              </a:rPr>
              <a:t>ยื่นใบลา &amp; ดูสถานะ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20"/>
                </a:solidFill>
              </a:rPr>
              <a:t>กรอกข้อมูล/อัปโหลดเอกสารเอง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20"/>
                </a:solidFill>
              </a:rPr>
              <a:t>อ่าน &amp; กดรับทราบระเบียบ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983480" y="1371600"/>
            <a:ext cx="40690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93792" y="1609344"/>
            <a:ext cx="603504" cy="603504"/>
          </a:xfrm>
          <a:prstGeom prst="ellipse">
            <a:avLst/>
          </a:prstGeom>
          <a:solidFill>
            <a:srgbClr val="E7F3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563" y="1742115"/>
            <a:ext cx="337962" cy="3379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97880" y="16824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 HR (หลังบ้าน)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212080" y="2286000"/>
            <a:ext cx="3611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20"/>
                </a:solidFill>
              </a:rPr>
              <a:t>แดชบอร์ด · รายงาน · บันทึกกิจกรรม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20"/>
                </a:solidFill>
              </a:rPr>
              <a:t>จัดสาขา/พิกัด · ตารางเวร · ไปแทนสาขา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20"/>
                </a:solidFill>
              </a:rPr>
              <a:t>อนุมัติลา · วินัย &amp; ใบเตือน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20"/>
                </a:solidFill>
              </a:rPr>
              <a:t>ระบบคะแนนวินัย · ตั้งค่านโยบายทั้งหมด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solidFill>
            <a:srgbClr val="E7F3EC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70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ทำงานบนมือถือ · ติดตั้งเป็นแอป (PWA) · ข้อมูลอยู่บนคลาวด์ปลอดภัย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 &amp; บทบาทใหม่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1208" y="1078992"/>
            <a:ext cx="146304" cy="146304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078992"/>
            <a:ext cx="146304" cy="146304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1078992"/>
            <a:ext cx="146304" cy="146304"/>
          </a:xfrm>
          <a:prstGeom prst="ellipse">
            <a:avLst/>
          </a:prstGeom>
          <a:solidFill>
            <a:srgbClr val="E11F2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71600"/>
            <a:ext cx="2670048" cy="30175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53896" y="1645920"/>
            <a:ext cx="768096" cy="768096"/>
          </a:xfrm>
          <a:prstGeom prst="ellipse">
            <a:avLst/>
          </a:prstGeom>
          <a:solidFill>
            <a:srgbClr val="E7F3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2877" y="1814901"/>
            <a:ext cx="430134" cy="4301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51460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0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2971800"/>
            <a:ext cx="20299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</a:rPr>
              <a:t>เช็กอินเอง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</a:rPr>
              <a:t>ยื่นลาเอง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</a:rPr>
              <a:t>กรอกข้อมูล/เอกสาร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</a:rPr>
              <a:t>กดรับทราบระเบียบ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19856" y="1371600"/>
            <a:ext cx="2670048" cy="30175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70832" y="1645920"/>
            <a:ext cx="768096" cy="768096"/>
          </a:xfrm>
          <a:prstGeom prst="ellipse">
            <a:avLst/>
          </a:prstGeom>
          <a:solidFill>
            <a:srgbClr val="E7F3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813" y="1814901"/>
            <a:ext cx="430134" cy="4301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19856" y="251460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0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หัวหน้าสาขา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785616" y="2971800"/>
            <a:ext cx="20299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</a:rPr>
              <a:t>จัดตารางเวร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</a:rPr>
              <a:t>ดูแลการมาทำงาน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</a:rPr>
              <a:t>ตั้งเรื่องวินัยเบื้องต้น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</a:rPr>
              <a:t>ดูแลสาขา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336792" y="1371600"/>
            <a:ext cx="2670048" cy="3017520"/>
          </a:xfrm>
          <a:prstGeom prst="roundRect">
            <a:avLst>
              <a:gd name="adj" fmla="val 3082"/>
            </a:avLst>
          </a:prstGeom>
          <a:solidFill>
            <a:srgbClr val="E7F3EC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87768" y="1645920"/>
            <a:ext cx="768096" cy="768096"/>
          </a:xfrm>
          <a:prstGeom prst="ellipse">
            <a:avLst/>
          </a:prstGeom>
          <a:solidFill>
            <a:srgbClr val="E7F3E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749" y="1814901"/>
            <a:ext cx="430134" cy="4301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36792" y="251460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0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/ ผู้บริหาร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702552" y="2971800"/>
            <a:ext cx="20299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</a:rPr>
              <a:t>อนุมัติลา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</a:rPr>
              <a:t>จัดการคะแนน/ใบเตือน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</a:rPr>
              <a:t>ดูรายงาน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</a:rPr>
              <a:t>กำหนดนโยบาย/เกณฑ์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ขั้นตอนการทำงานใหม่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1208" y="1078992"/>
            <a:ext cx="146304" cy="146304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078992"/>
            <a:ext cx="146304" cy="146304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1078992"/>
            <a:ext cx="146304" cy="146304"/>
          </a:xfrm>
          <a:prstGeom prst="ellipse">
            <a:avLst/>
          </a:prstGeom>
          <a:solidFill>
            <a:srgbClr val="E11F2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17320"/>
            <a:ext cx="1993392" cy="2971800"/>
          </a:xfrm>
          <a:prstGeom prst="roundRect">
            <a:avLst>
              <a:gd name="adj" fmla="val 4128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25296" y="1655064"/>
            <a:ext cx="548640" cy="548640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8" name="Text 6"/>
          <p:cNvSpPr/>
          <p:nvPr/>
        </p:nvSpPr>
        <p:spPr>
          <a:xfrm>
            <a:off x="1225296" y="1655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377440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83464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การมาทำงาน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7512" y="3200400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เปิดแอป → รับทราบระเบียบ → เช็กอิน GPS + ถ่ายรูปติดสแตมป์เวลา/สถานที่ → บันทึกตรง/สายอัตโนมัติ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78024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82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615184" y="1417320"/>
            <a:ext cx="1993392" cy="2971800"/>
          </a:xfrm>
          <a:prstGeom prst="roundRect">
            <a:avLst>
              <a:gd name="adj" fmla="val 4128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655064"/>
            <a:ext cx="548640" cy="548640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15" name="Text 12"/>
          <p:cNvSpPr/>
          <p:nvPr/>
        </p:nvSpPr>
        <p:spPr>
          <a:xfrm>
            <a:off x="3337560" y="1655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2377440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15184" y="283464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การจัดเวร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2779776" y="3200400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หัวหน้าคีย์โค้ดกะรายสัปดาห์ (1/2/3/D) · จัดไปทำแทนสาขาได้ · สรุป/แชร์เข้า Line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90288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82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727448" y="1417320"/>
            <a:ext cx="1993392" cy="2971800"/>
          </a:xfrm>
          <a:prstGeom prst="roundRect">
            <a:avLst>
              <a:gd name="adj" fmla="val 4128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49824" y="1655064"/>
            <a:ext cx="548640" cy="548640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22" name="Text 18"/>
          <p:cNvSpPr/>
          <p:nvPr/>
        </p:nvSpPr>
        <p:spPr>
          <a:xfrm>
            <a:off x="5449824" y="1655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76" y="2377440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27448" y="283464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การลา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4892040" y="3200400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พนักงานยื่นในแอป → ระบบตรวจเงื่อนไข (ล่วงหน้า/โควตา/ใบรับรอง) → HR อนุมัติ/ปฏิเสธพร้อมเหตุผล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702552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82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6839712" y="1417320"/>
            <a:ext cx="1993392" cy="2971800"/>
          </a:xfrm>
          <a:prstGeom prst="roundRect">
            <a:avLst>
              <a:gd name="adj" fmla="val 4128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562088" y="1655064"/>
            <a:ext cx="548640" cy="548640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29" name="Text 24"/>
          <p:cNvSpPr/>
          <p:nvPr/>
        </p:nvSpPr>
        <p:spPr>
          <a:xfrm>
            <a:off x="7562088" y="1655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0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377440"/>
            <a:ext cx="402336" cy="40233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39712" y="283464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วินัย &amp; คะแนน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7004304" y="3200400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ระบบหักคะแนนอัตโนมัติ + HR เพิ่มเหตุการณ์ → สรุปปลายเดือน → โบนัส หรือ ใบเตือน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ฟีเจอร์ระบบใหม่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1208" y="1078992"/>
            <a:ext cx="146304" cy="146304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078992"/>
            <a:ext cx="146304" cy="146304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1078992"/>
            <a:ext cx="146304" cy="146304"/>
          </a:xfrm>
          <a:prstGeom prst="ellipse">
            <a:avLst/>
          </a:prstGeom>
          <a:solidFill>
            <a:srgbClr val="E11F2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716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1572768"/>
            <a:ext cx="512064" cy="512064"/>
          </a:xfrm>
          <a:prstGeom prst="ellipse">
            <a:avLst/>
          </a:prstGeom>
          <a:solidFill>
            <a:srgbClr val="E7F3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166" y="1685422"/>
            <a:ext cx="286756" cy="2867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" y="212140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เช็กอิน GPS + สแตมป์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649224" y="23957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เวลา/สถานที่บนรูป กันปลอม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2615184" y="13716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79776" y="1572768"/>
            <a:ext cx="512064" cy="512064"/>
          </a:xfrm>
          <a:prstGeom prst="ellipse">
            <a:avLst/>
          </a:prstGeom>
          <a:solidFill>
            <a:srgbClr val="E7F3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430" y="1685422"/>
            <a:ext cx="286756" cy="2867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61488" y="212140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จัดการสาขา</a:t>
            </a:r>
            <a:endParaRPr lang="en-US" sz="1220" dirty="0"/>
          </a:p>
        </p:txBody>
      </p:sp>
      <p:sp>
        <p:nvSpPr>
          <p:cNvPr id="15" name="Text 11"/>
          <p:cNvSpPr/>
          <p:nvPr/>
        </p:nvSpPr>
        <p:spPr>
          <a:xfrm>
            <a:off x="2761488" y="23957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พิกัด + รัศมีอนุญาตเช็กอิน</a:t>
            </a:r>
            <a:endParaRPr lang="en-US" sz="1030" dirty="0"/>
          </a:p>
        </p:txBody>
      </p:sp>
      <p:sp>
        <p:nvSpPr>
          <p:cNvPr id="16" name="Shape 12"/>
          <p:cNvSpPr/>
          <p:nvPr/>
        </p:nvSpPr>
        <p:spPr>
          <a:xfrm>
            <a:off x="4727448" y="13716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92040" y="1572768"/>
            <a:ext cx="512064" cy="512064"/>
          </a:xfrm>
          <a:prstGeom prst="ellipse">
            <a:avLst/>
          </a:prstGeom>
          <a:solidFill>
            <a:srgbClr val="E7F3E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694" y="1685422"/>
            <a:ext cx="286756" cy="2867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73752" y="212140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ตารางเวร + ไปแทนสาขา</a:t>
            </a:r>
            <a:endParaRPr lang="en-US" sz="1220" dirty="0"/>
          </a:p>
        </p:txBody>
      </p:sp>
      <p:sp>
        <p:nvSpPr>
          <p:cNvPr id="20" name="Text 15"/>
          <p:cNvSpPr/>
          <p:nvPr/>
        </p:nvSpPr>
        <p:spPr>
          <a:xfrm>
            <a:off x="4873752" y="23957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สรุป/แชร์รูปเข้า Line</a:t>
            </a:r>
            <a:endParaRPr lang="en-US" sz="1030" dirty="0"/>
          </a:p>
        </p:txBody>
      </p:sp>
      <p:sp>
        <p:nvSpPr>
          <p:cNvPr id="21" name="Shape 16"/>
          <p:cNvSpPr/>
          <p:nvPr/>
        </p:nvSpPr>
        <p:spPr>
          <a:xfrm>
            <a:off x="6839712" y="13716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004304" y="1572768"/>
            <a:ext cx="512064" cy="512064"/>
          </a:xfrm>
          <a:prstGeom prst="ellipse">
            <a:avLst/>
          </a:prstGeom>
          <a:solidFill>
            <a:srgbClr val="E7F3E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958" y="1685422"/>
            <a:ext cx="286756" cy="2867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86016" y="212140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ลาออนไลน์</a:t>
            </a:r>
            <a:endParaRPr lang="en-US" sz="1220" dirty="0"/>
          </a:p>
        </p:txBody>
      </p:sp>
      <p:sp>
        <p:nvSpPr>
          <p:cNvPr id="25" name="Text 19"/>
          <p:cNvSpPr/>
          <p:nvPr/>
        </p:nvSpPr>
        <p:spPr>
          <a:xfrm>
            <a:off x="6986016" y="23957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เงื่อนไข + แนบใบรับรองแพทย์</a:t>
            </a:r>
            <a:endParaRPr lang="en-US" sz="1030" dirty="0"/>
          </a:p>
        </p:txBody>
      </p:sp>
      <p:sp>
        <p:nvSpPr>
          <p:cNvPr id="26" name="Shape 20"/>
          <p:cNvSpPr/>
          <p:nvPr/>
        </p:nvSpPr>
        <p:spPr>
          <a:xfrm>
            <a:off x="502920" y="292608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67512" y="3127248"/>
            <a:ext cx="512064" cy="512064"/>
          </a:xfrm>
          <a:prstGeom prst="ellipse">
            <a:avLst/>
          </a:prstGeom>
          <a:solidFill>
            <a:srgbClr val="E7F3E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66" y="3239902"/>
            <a:ext cx="286756" cy="2867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49224" y="367588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ระเบียบการทำงาน</a:t>
            </a:r>
            <a:endParaRPr lang="en-US" sz="1220" dirty="0"/>
          </a:p>
        </p:txBody>
      </p:sp>
      <p:sp>
        <p:nvSpPr>
          <p:cNvPr id="30" name="Text 23"/>
          <p:cNvSpPr/>
          <p:nvPr/>
        </p:nvSpPr>
        <p:spPr>
          <a:xfrm>
            <a:off x="649224" y="39502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บังคับรับทราบก่อนเช็กอิน</a:t>
            </a:r>
            <a:endParaRPr lang="en-US" sz="1030" dirty="0"/>
          </a:p>
        </p:txBody>
      </p:sp>
      <p:sp>
        <p:nvSpPr>
          <p:cNvPr id="31" name="Shape 24"/>
          <p:cNvSpPr/>
          <p:nvPr/>
        </p:nvSpPr>
        <p:spPr>
          <a:xfrm>
            <a:off x="2615184" y="292608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779776" y="3127248"/>
            <a:ext cx="512064" cy="512064"/>
          </a:xfrm>
          <a:prstGeom prst="ellipse">
            <a:avLst/>
          </a:prstGeom>
          <a:solidFill>
            <a:srgbClr val="E7F3E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2430" y="3239902"/>
            <a:ext cx="286756" cy="2867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761488" y="367588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พนักงานกรอกข้อมูลเอง</a:t>
            </a:r>
            <a:endParaRPr lang="en-US" sz="1220" dirty="0"/>
          </a:p>
        </p:txBody>
      </p:sp>
      <p:sp>
        <p:nvSpPr>
          <p:cNvPr id="35" name="Text 27"/>
          <p:cNvSpPr/>
          <p:nvPr/>
        </p:nvSpPr>
        <p:spPr>
          <a:xfrm>
            <a:off x="2761488" y="39502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อัปเอกสาร รอ HR ตรวจ</a:t>
            </a:r>
            <a:endParaRPr lang="en-US" sz="1030" dirty="0"/>
          </a:p>
        </p:txBody>
      </p:sp>
      <p:sp>
        <p:nvSpPr>
          <p:cNvPr id="36" name="Shape 28"/>
          <p:cNvSpPr/>
          <p:nvPr/>
        </p:nvSpPr>
        <p:spPr>
          <a:xfrm>
            <a:off x="4727448" y="292608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892040" y="3127248"/>
            <a:ext cx="512064" cy="512064"/>
          </a:xfrm>
          <a:prstGeom prst="ellipse">
            <a:avLst/>
          </a:prstGeom>
          <a:solidFill>
            <a:srgbClr val="E7F3EC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4694" y="3239902"/>
            <a:ext cx="286756" cy="28675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873752" y="367588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 HR</a:t>
            </a:r>
            <a:endParaRPr lang="en-US" sz="1220" dirty="0"/>
          </a:p>
        </p:txBody>
      </p:sp>
      <p:sp>
        <p:nvSpPr>
          <p:cNvPr id="40" name="Text 31"/>
          <p:cNvSpPr/>
          <p:nvPr/>
        </p:nvSpPr>
        <p:spPr>
          <a:xfrm>
            <a:off x="4873752" y="39502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ขาด · ลืมออก · รออนุมัติ</a:t>
            </a:r>
            <a:endParaRPr lang="en-US" sz="1030" dirty="0"/>
          </a:p>
        </p:txBody>
      </p:sp>
      <p:sp>
        <p:nvSpPr>
          <p:cNvPr id="41" name="Shape 32"/>
          <p:cNvSpPr/>
          <p:nvPr/>
        </p:nvSpPr>
        <p:spPr>
          <a:xfrm>
            <a:off x="6839712" y="292608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7004304" y="3127248"/>
            <a:ext cx="512064" cy="512064"/>
          </a:xfrm>
          <a:prstGeom prst="ellipse">
            <a:avLst/>
          </a:prstGeom>
          <a:solidFill>
            <a:srgbClr val="E7F3EC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6958" y="3239902"/>
            <a:ext cx="286756" cy="28675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986016" y="367588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บันทึกกิจกรรม</a:t>
            </a:r>
            <a:endParaRPr lang="en-US" sz="1220" dirty="0"/>
          </a:p>
        </p:txBody>
      </p:sp>
      <p:sp>
        <p:nvSpPr>
          <p:cNvPr id="45" name="Text 35"/>
          <p:cNvSpPr/>
          <p:nvPr/>
        </p:nvSpPr>
        <p:spPr>
          <a:xfrm>
            <a:off x="6986016" y="39502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ตรวจสอบย้อนหลังได้</a:t>
            </a:r>
            <a:endParaRPr lang="en-US" sz="10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นโยบายวินัย — ใบเตือน 4 ระดับ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1208" y="1078992"/>
            <a:ext cx="146304" cy="146304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078992"/>
            <a:ext cx="146304" cy="146304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1078992"/>
            <a:ext cx="146304" cy="146304"/>
          </a:xfrm>
          <a:prstGeom prst="ellipse">
            <a:avLst/>
          </a:prstGeom>
          <a:solidFill>
            <a:srgbClr val="E11F2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08760"/>
            <a:ext cx="3840480" cy="676656"/>
          </a:xfrm>
          <a:prstGeom prst="roundRect">
            <a:avLst>
              <a:gd name="adj" fmla="val 10811"/>
            </a:avLst>
          </a:prstGeom>
          <a:solidFill>
            <a:srgbClr val="2E8B57"/>
          </a:solidFill>
          <a:ln/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5506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0876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ตักเตือนด้วยวาจา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566160" y="1508760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5120640" cy="676656"/>
          </a:xfrm>
          <a:prstGeom prst="roundRect">
            <a:avLst>
              <a:gd name="adj" fmla="val 10811"/>
            </a:avLst>
          </a:prstGeom>
          <a:solidFill>
            <a:srgbClr val="CA8A04"/>
          </a:solidFill>
          <a:ln/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47802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33172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ตักเตือนลายลักษณ์อักษร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46320" y="2331720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2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154680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EA580C"/>
          </a:solidFill>
          <a:ln/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300984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154680"/>
            <a:ext cx="5486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ใบเตือนครั้งที่ 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126480" y="3154680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3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3977640"/>
            <a:ext cx="7680960" cy="676656"/>
          </a:xfrm>
          <a:prstGeom prst="roundRect">
            <a:avLst>
              <a:gd name="adj" fmla="val 10811"/>
            </a:avLst>
          </a:prstGeom>
          <a:solidFill>
            <a:srgbClr val="B91C1C"/>
          </a:solidFill>
          <a:ln/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123944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3977640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ใบเตือนครั้งที่ 2 / พิจารณาตามขั้นตอน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406640" y="3977640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4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40080" y="45720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ทุกคนต้องยอมรับระเบียบการทำงานก่อนเริ่มงาน · ใบเตือนทุกใบมีหลักฐาน เหตุผล และให้พนักงานรับทราบ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ระบบคะแนนวินัยรายเดือน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1208" y="1078992"/>
            <a:ext cx="146304" cy="146304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078992"/>
            <a:ext cx="146304" cy="146304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1078992"/>
            <a:ext cx="146304" cy="146304"/>
          </a:xfrm>
          <a:prstGeom prst="ellipse">
            <a:avLst/>
          </a:prstGeom>
          <a:solidFill>
            <a:srgbClr val="E11F2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71600"/>
            <a:ext cx="2697480" cy="3017520"/>
          </a:xfrm>
          <a:prstGeom prst="roundRect">
            <a:avLst>
              <a:gd name="adj" fmla="val 3051"/>
            </a:avLst>
          </a:prstGeom>
          <a:solidFill>
            <a:srgbClr val="004D29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627632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286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8C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เริ่มทุกคน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48716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100</a:t>
            </a:r>
            <a:endParaRPr lang="en-US" sz="6200" dirty="0"/>
          </a:p>
        </p:txBody>
      </p:sp>
      <p:sp>
        <p:nvSpPr>
          <p:cNvPr id="10" name="Text 7"/>
          <p:cNvSpPr/>
          <p:nvPr/>
        </p:nvSpPr>
        <p:spPr>
          <a:xfrm>
            <a:off x="502920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 / เดือน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3703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BB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รอบ 21–20 ของเดือน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1371600"/>
          <a:ext cx="52120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  <a:gridCol w="914400"/>
              </a:tblGrid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พฤติกรรม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หัก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ประเภท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มาสาย 1–10 นาที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−3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auto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มาสาย 11–30 นาที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−5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auto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มาสายเกิน 30 นาที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−10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auto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ไม่มาและไม่แจ้ง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−30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auto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แจ้งกะทันหัน &lt; 2 ชม.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−15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HR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ไม่ส่งมอบผลัด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−10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HR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เกี่ยงงาน/ไม่ทำงานที่มอบหมาย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−10 ถึง −20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HR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ทะเลาะ/พูดจาไม่เหมาะสม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−15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HR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เกณฑ์ผลปลายเดือน &amp; โบนัส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1208" y="1078992"/>
            <a:ext cx="146304" cy="146304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078992"/>
            <a:ext cx="146304" cy="146304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1078992"/>
            <a:ext cx="146304" cy="146304"/>
          </a:xfrm>
          <a:prstGeom prst="ellipse">
            <a:avLst/>
          </a:prstGeom>
          <a:solidFill>
            <a:srgbClr val="E11F2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7160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71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90–100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1371600"/>
            <a:ext cx="4480560" cy="548640"/>
          </a:xfrm>
          <a:prstGeom prst="roundRect">
            <a:avLst>
              <a:gd name="adj" fmla="val 11667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3716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ได้โบนัสวินัย + สิทธิเลือกกะก่อน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94960" y="13716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฿1,500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029968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0EA5A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2996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80–89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11680" y="2029968"/>
            <a:ext cx="4480560" cy="548640"/>
          </a:xfrm>
          <a:prstGeom prst="roundRect">
            <a:avLst>
              <a:gd name="adj" fmla="val 11667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202996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ปกติ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94960" y="202996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฿500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688336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CA8A0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8833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70–79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011680" y="2688336"/>
            <a:ext cx="4480560" cy="548640"/>
          </a:xfrm>
          <a:prstGeom prst="roundRect">
            <a:avLst>
              <a:gd name="adj" fmla="val 11667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268833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คุยปรับพฤติกรรม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94960" y="2688336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346704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34670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60–69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0" y="3346704"/>
            <a:ext cx="4480560" cy="548640"/>
          </a:xfrm>
          <a:prstGeom prst="roundRect">
            <a:avLst>
              <a:gd name="adj" fmla="val 11667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33467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ใบเตือนครั้งที่ 1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94960" y="334670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005072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B9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0050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ต่ำกว่า 60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011680" y="4005072"/>
            <a:ext cx="4480560" cy="548640"/>
          </a:xfrm>
          <a:prstGeom prst="roundRect">
            <a:avLst>
              <a:gd name="adj" fmla="val 11667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400507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ใบเตือนครั้งที่ 2 / พิจารณาตามขั้นตอน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394960" y="400507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12280" y="1371600"/>
            <a:ext cx="1828800" cy="3072384"/>
          </a:xfrm>
          <a:prstGeom prst="roundRect">
            <a:avLst>
              <a:gd name="adj" fmla="val 4500"/>
            </a:avLst>
          </a:prstGeom>
          <a:solidFill>
            <a:srgbClr val="E7F3EC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60920" y="162763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1854" y="1788566"/>
            <a:ext cx="409651" cy="409651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85800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70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โบนัสความรับผิดชอบ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681228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500–1,500</a:t>
            </a:r>
            <a:endParaRPr lang="en-US" sz="2300" dirty="0"/>
          </a:p>
        </p:txBody>
      </p:sp>
      <p:sp>
        <p:nvSpPr>
          <p:cNvPr id="36" name="Text 33"/>
          <p:cNvSpPr/>
          <p:nvPr/>
        </p:nvSpPr>
        <p:spPr>
          <a:xfrm>
            <a:off x="681228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บาท/เดือน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858000" y="3657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4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ผูกกับ ไม่ขาด ไม่สาย ไม่ทิ้งผลัด (ให้รางวัล — ไม่ใช่หักค่าจ้าง)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แผนเปลี่ยนผ่าน (Timeline)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1208" y="1078992"/>
            <a:ext cx="146304" cy="146304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078992"/>
            <a:ext cx="146304" cy="146304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1078992"/>
            <a:ext cx="146304" cy="146304"/>
          </a:xfrm>
          <a:prstGeom prst="ellipse">
            <a:avLst/>
          </a:prstGeom>
          <a:solidFill>
            <a:srgbClr val="E11F26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86000"/>
            <a:ext cx="6693408" cy="0"/>
          </a:xfrm>
          <a:prstGeom prst="line">
            <a:avLst/>
          </a:prstGeom>
          <a:noFill/>
          <a:ln w="25400">
            <a:solidFill>
              <a:srgbClr val="DD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984248"/>
            <a:ext cx="603504" cy="603504"/>
          </a:xfrm>
          <a:prstGeom prst="ellipse">
            <a:avLst/>
          </a:prstGeom>
          <a:solidFill>
            <a:srgbClr val="00703C"/>
          </a:solidFill>
          <a:ln/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984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0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ติดตั้งระบบ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0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82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1–2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-27432" y="269748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ใส่ข้อมูลพนักงาน/สาขา/พิกัด เปิดสิทธิ์ฐานข้อมูล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2148840" y="1984248"/>
            <a:ext cx="603504" cy="603504"/>
          </a:xfrm>
          <a:prstGeom prst="ellipse">
            <a:avLst/>
          </a:prstGeom>
          <a:solidFill>
            <a:srgbClr val="00703C"/>
          </a:solidFill>
          <a:ln/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48840" y="1984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73352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สื่อสาร &amp; อบรม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73352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82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45920" y="269748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อบรมใช้แอป + ให้รับทราบระเบียบ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3822192" y="1984248"/>
            <a:ext cx="603504" cy="603504"/>
          </a:xfrm>
          <a:prstGeom prst="ellipse">
            <a:avLst/>
          </a:prstGeom>
          <a:solidFill>
            <a:srgbClr val="00703C"/>
          </a:solidFill>
          <a:ln/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22192" y="1984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46704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ทดลองคู่ขนาน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46704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82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 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9272" y="269748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คะแนนยังไม่มีผลจริง เก็บข้อมูล/ปรับจูน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5495544" y="1984248"/>
            <a:ext cx="603504" cy="603504"/>
          </a:xfrm>
          <a:prstGeom prst="ellipse">
            <a:avLst/>
          </a:prstGeom>
          <a:solidFill>
            <a:srgbClr val="F5821F"/>
          </a:solidFill>
          <a:ln/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95544" y="1984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0056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ใช้จริง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0056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82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 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92624" y="269748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คะแนน/โบนัส/ใบเตือนมีผล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7168896" y="1984248"/>
            <a:ext cx="603504" cy="603504"/>
          </a:xfrm>
          <a:prstGeom prst="ellipse">
            <a:avLst/>
          </a:prstGeom>
          <a:solidFill>
            <a:srgbClr val="F5821F"/>
          </a:solidFill>
          <a:ln/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68896" y="1984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693408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 &amp; ปรับ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693408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82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 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65976" y="269748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E6F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ประเมินผล ปรับเกณฑ์ตามจริง</a:t>
            </a:r>
            <a:endParaRPr lang="en-US" sz="10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การสื่อสารกับพนักงาน — เข้มงวด แต่เป็นธรรม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1208" y="1078992"/>
            <a:ext cx="146304" cy="146304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078992"/>
            <a:ext cx="146304" cy="146304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1078992"/>
            <a:ext cx="146304" cy="146304"/>
          </a:xfrm>
          <a:prstGeom prst="ellipse">
            <a:avLst/>
          </a:prstGeom>
          <a:solidFill>
            <a:srgbClr val="E11F2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0"/>
            <a:ext cx="8138160" cy="713232"/>
          </a:xfrm>
          <a:prstGeom prst="roundRect">
            <a:avLst>
              <a:gd name="adj" fmla="val 11538"/>
            </a:avLst>
          </a:prstGeom>
          <a:solidFill>
            <a:srgbClr val="004D29"/>
          </a:solidFill>
          <a:ln/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1790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3258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“ระบบนี้ทำเพื่อความยุติธรรมกับทุกคน — คนตั้งใจทำงานได้รางวัล คนละเลยมีผลที่ชัดเจน”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286000"/>
            <a:ext cx="4069080" cy="2331720"/>
          </a:xfrm>
          <a:prstGeom prst="roundRect">
            <a:avLst>
              <a:gd name="adj" fmla="val 3529"/>
            </a:avLst>
          </a:prstGeom>
          <a:solidFill>
            <a:srgbClr val="FBE3E4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F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เข้มงวด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880360"/>
            <a:ext cx="3611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7A2E2E"/>
                </a:solidFill>
              </a:rPr>
              <a:t>เช็กอินปลอม/แทนกันไม่ได้ — GPS + รูป + เวลา-สถานที่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7A2E2E"/>
                </a:solidFill>
              </a:rPr>
              <a:t>ขาด/สายมีคะแนนทุกครั้ง อัตโนมัติ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7A2E2E"/>
                </a:solidFill>
              </a:rPr>
              <a:t>ใบเตือนเป็นขั้นตอนตามกฎหมายแรงงาน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983480" y="2286000"/>
            <a:ext cx="4069080" cy="2331720"/>
          </a:xfrm>
          <a:prstGeom prst="roundRect">
            <a:avLst>
              <a:gd name="adj" fmla="val 3529"/>
            </a:avLst>
          </a:prstGeom>
          <a:solidFill>
            <a:srgbClr val="E7F3EC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21208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เป็นธรรม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12080" y="2880360"/>
            <a:ext cx="3611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4A33"/>
                </a:solidFill>
              </a:rPr>
              <a:t>เกณฑ์ประกาศชัดล่วงหน้า ทุกคนมาตรฐานเดียว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4A33"/>
                </a:solidFill>
              </a:rPr>
              <a:t>ตรวจสอบย้อนหลังได้ · ปฏิเสธลาต้องมีเหตุผล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4A33"/>
                </a:solidFill>
              </a:rPr>
              <a:t>เปิดให้ชี้แจง/อุทธรณ์ก่อนลงโทษ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ความเสี่ยงแรงงาน &amp; การป้องกัน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1208" y="1078992"/>
            <a:ext cx="146304" cy="146304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078992"/>
            <a:ext cx="146304" cy="146304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1078992"/>
            <a:ext cx="146304" cy="146304"/>
          </a:xfrm>
          <a:prstGeom prst="ellipse">
            <a:avLst/>
          </a:prstGeom>
          <a:solidFill>
            <a:srgbClr val="E11F26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663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ความเสี่ยง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การป้องกันในระบบ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ใบเตือนถูกโต้แย้งว่าไม่เป็นธรรม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ทุกใบมีหลักฐาน + เหตุผล + รอบประเมิน + ให้รับทราบ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ถูกมองว่าหักค่าจ้างผิดกฎหมาย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ใช้ ‘โบนัส’ แทนการหักเงิน → ความเสี่ยงต่ำ คุมง่าย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ข้อพิพาทเรื่องเวลาเข้างาน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สแตมป์ GPS + เวลา-สถานที่บนรูป เป็นหลักฐานชัด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เลิกจ้างไม่เป็นธรรม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ทำตามขั้นตอนใบเตือนเป็นลำดับ ไม่ข้ามขั้น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พิสูจน์ความโปร่งใสไม่ได้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บันทึกกิจกรรม (log) ทุกการกระทำ ตรวจย้อนหลังได้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สิ่งที่ต้องตัดสินใจในที่ประชุม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1208" y="1078992"/>
            <a:ext cx="146304" cy="146304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078992"/>
            <a:ext cx="146304" cy="146304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1078992"/>
            <a:ext cx="146304" cy="146304"/>
          </a:xfrm>
          <a:prstGeom prst="ellipse">
            <a:avLst/>
          </a:prstGeom>
          <a:solidFill>
            <a:srgbClr val="E11F2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17320"/>
            <a:ext cx="7863840" cy="566928"/>
          </a:xfrm>
          <a:prstGeom prst="roundRect">
            <a:avLst>
              <a:gd name="adj" fmla="val 14516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3619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41732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ยืนยันเกณฑ์คะแนน / โบนัส / ใบเตือน (ตัวเลขสุดท้าย)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130552"/>
            <a:ext cx="7863840" cy="566928"/>
          </a:xfrm>
          <a:prstGeom prst="roundRect">
            <a:avLst>
              <a:gd name="adj" fmla="val 14516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249424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130552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กำหนดวันเริ่มทดลอง และวันเริ่มใช้จริง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843784"/>
            <a:ext cx="7863840" cy="566928"/>
          </a:xfrm>
          <a:prstGeom prst="roundRect">
            <a:avLst>
              <a:gd name="adj" fmla="val 14516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962656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2843784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มอบหมายผู้รับผิดชอบแต่ละส่วน (ใส่ข้อมูล · อบรม · อนุมัติลา · ออกใบเตือน)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3557016"/>
            <a:ext cx="7863840" cy="566928"/>
          </a:xfrm>
          <a:prstGeom prst="roundRect">
            <a:avLst>
              <a:gd name="adj" fmla="val 14516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67588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3557016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เลือกช่องทางสื่อสาร + รูปแบบการอบรมพนักงาน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40080" y="4270248"/>
            <a:ext cx="7863840" cy="566928"/>
          </a:xfrm>
          <a:prstGeom prst="roundRect">
            <a:avLst>
              <a:gd name="adj" fmla="val 14516"/>
            </a:avLst>
          </a:prstGeom>
          <a:solidFill>
            <a:srgbClr val="F2F7F3"/>
          </a:solidFill>
          <a:ln w="12700">
            <a:solidFill>
              <a:srgbClr val="DD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9DB3A6">
                <a:alpha val="2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389120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4270248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ยืนยันรัศมีเช็กอินของแต่ละสาขา และพิกัดให้ถูกต้อง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108960"/>
            <a:ext cx="3291840" cy="3291840"/>
          </a:xfrm>
          <a:prstGeom prst="ellipse">
            <a:avLst/>
          </a:prstGeom>
          <a:solidFill>
            <a:srgbClr val="07351F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1280160"/>
            <a:ext cx="3108960" cy="3108960"/>
          </a:xfrm>
          <a:prstGeom prst="ellipse">
            <a:avLst/>
          </a:prstGeom>
          <a:solidFill>
            <a:srgbClr val="0B5B33"/>
          </a:solidFill>
          <a:ln/>
        </p:spPr>
      </p:sp>
      <p:sp>
        <p:nvSpPr>
          <p:cNvPr id="4" name="Shape 2"/>
          <p:cNvSpPr/>
          <p:nvPr/>
        </p:nvSpPr>
        <p:spPr>
          <a:xfrm>
            <a:off x="4069080" y="960120"/>
            <a:ext cx="1005840" cy="1005840"/>
          </a:xfrm>
          <a:prstGeom prst="ellipse">
            <a:avLst/>
          </a:prstGeom>
          <a:solidFill>
            <a:srgbClr val="0B5B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0365" y="1181405"/>
            <a:ext cx="563270" cy="563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40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ระบบเดียว · มาตรฐานเดียว · เป็นธรรมกับทุกคน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2971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7D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พร้อมเริ่มเปลี่ยนผ่าน — สร้างวัฒนธรรมความรับผิดชอบที่วัดผลได้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79976" y="3749040"/>
            <a:ext cx="146304" cy="146304"/>
          </a:xfrm>
          <a:prstGeom prst="ellipse">
            <a:avLst/>
          </a:prstGeom>
          <a:solidFill>
            <a:srgbClr val="00703C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3749040"/>
            <a:ext cx="146304" cy="146304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10" name="Shape 7"/>
          <p:cNvSpPr/>
          <p:nvPr/>
        </p:nvSpPr>
        <p:spPr>
          <a:xfrm>
            <a:off x="4855464" y="3749040"/>
            <a:ext cx="146304" cy="146304"/>
          </a:xfrm>
          <a:prstGeom prst="ellipse">
            <a:avLst/>
          </a:prstGeom>
          <a:solidFill>
            <a:srgbClr val="E11F2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BB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 / ค่ะ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ปรับโครงสร้างการบริหารบุคลากร</dc:title>
  <dc:subject>PptxGenJS Presentation</dc:subject>
  <dc:creator>HR System</dc:creator>
  <cp:lastModifiedBy>HR System</cp:lastModifiedBy>
  <cp:revision>1</cp:revision>
  <dcterms:created xsi:type="dcterms:W3CDTF">2026-06-29T04:48:05Z</dcterms:created>
  <dcterms:modified xsi:type="dcterms:W3CDTF">2026-06-29T04:48:05Z</dcterms:modified>
</cp:coreProperties>
</file>